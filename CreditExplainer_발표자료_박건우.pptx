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그룹 A — 3금융권 이용 (n=376)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0404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거절률</c:v>
                  </c:pt>
                  <c:pt idx="1">
                    <c:v>FPR</c:v>
                  </c:pt>
                  <c:pt idx="2">
                    <c:v>FNR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31.91</c:v>
                </c:pt>
                <c:pt idx="1">
                  <c:v>31.74</c:v>
                </c:pt>
                <c:pt idx="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그룹 B — 미이용 (n=39,716)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0404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거절률</c:v>
                  </c:pt>
                  <c:pt idx="1">
                    <c:v>FPR</c:v>
                  </c:pt>
                  <c:pt idx="2">
                    <c:v>FNR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0.51</c:v>
                </c:pt>
                <c:pt idx="1">
                  <c:v>0.45</c:v>
                </c:pt>
                <c:pt idx="2">
                  <c:v>69.44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40404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0404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홀드아웃 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사면 전
(베이스라인)</c:v>
                  </c:pt>
                  <c:pt idx="1">
                    <c:v>사면 50%
기록 삭제</c:v>
                  </c:pt>
                  <c:pt idx="2">
                    <c:v>사면 100%
기록 삭제</c:v>
                  </c:pt>
                  <c:pt idx="3">
                    <c:v>사면 100%
+ 사면 flag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0.9247</c:v>
                </c:pt>
                <c:pt idx="1">
                  <c:v>0.923</c:v>
                </c:pt>
                <c:pt idx="2">
                  <c:v>0.924</c:v>
                </c:pt>
                <c:pt idx="3">
                  <c:v>0.9232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20초. 과목명·과제명 소개 후, 실습과제와 발표과제를 하나의 여정으로 묶었다는 것만 언급하고 넘어감.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20초. 두 과제가 별개가 아니라 하나의 여정임을 먼저 선언 — '성능을 만들고, 그 다음 신뢰를 만들었다'.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1분. '알고리즘 문제가 아니라 설계 문제'가 핵심 프레임. 착시 평가(문제 2)를 가장 강조 — 개선의 전제가 평가 프로토콜 교정이었음을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10초. 개선 5개를 파이프라인 순서로 빠르게, 타일은 '동일한 현실 홀드아웃 비교'임을 강조. 반례(class_weight·SMOTE 악화)는 실험적 엄밀성 어필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Part 1→2 전환의 핵심 슬라이드. '실습 보고서에 스스로 남긴 숙제를 이어서 풀었다'는 프레임이 발표 전체의 스토리를 완성.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브리지에서 법 조문을 이미 봤으므로 왼쪽은 규제 이름만 빠르게, 오른쪽 트레이드오프 중심으로. '규제가 수요를 법으로 만들어 준다'로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1.5분. 각 계층을 화살표 순서로. '역할 분리 자체가 리스크 방어'라는 문장이 이 슬라이드의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1분. 수치는 저장소 노트북 실행값 기준(AUC 0.9230)임을 언급 — 실습 제출본은 0.9247로 환경 차이. SHAP 차트에서 금리 단위 변환(%×1000 스케일, 법정 최고금리 24% 근거) 짧게.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1분. '부정사유 코드'와의 차이를 하단 인용문으로 보여줌 — 수치 근거 + 개선 방향 + 비확정 표현. 비용 스탯으로 경제성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2분. 여기서 실제 브라우저로 전환. 네트워크 문제 시 로컬 파일. 시연 후 이 슬라이드로 복귀하지 말고 바로 다음 슬라이드로.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시연 직후 요점 정리 — '거절 통보가 신용 회복 안내서가 된다'가 서비스 가치의 한 줄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1분. DP와 EO가 서로 다른 결론을 내는 게 이 슬라이드의 포인트 — 8주차 COMPAS(개발사 vs ProPublica) 논쟁과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1분. 한계를 먼저 말하는 것이 신뢰 전략. 상관 변수 건은 질문이 나오기 전에 선제 공개.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3줄 요약 후 질문 받기. 부록 2장(사면 실험, Q&amp;A 카드)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대응용. '사면이 모형을 왜곡하는가'라는 토의 주제를 직접 실험 — 이 데이터에서는 왜곡이 크지 않았고, 이유는 대리변수. 축 확대는 정직하게 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대응용 카드. 각 답의 마지막 문장이 핵심 방어 논리.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redit-explainer-demo.vercel.app/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redit-explainer-demo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연세대학교 정보대학원 발표과제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인공지능과 신용평가모델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Play DB 성능개선에서 Credit Explainer까지 — 성능을 넘어 신뢰로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박건우  ·  2026. 7.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여정 — 성능을 만들고, 신뢰를 만들다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E8F0FB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 ·  실습과제 (약 3분)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모형의 '성능'을 만들다
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AI Play DB 신용평가모델 성능개선
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극단적 불균형(0.23%) 진단 → 5가지 개선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AUC 0.9111 → 0.9247, 기대비용 −84.6%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8064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16636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 ·  발표과제 (약 7분)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0840" y="23774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모형의 '신뢰'를 만들다
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Credit Explainer — 설명요구권 대응 서비스
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1의 모형 + XAI + 생성형 AI + 거버넌스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라이브 데모 (Vercel 배포)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927080" cy="822960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연결고리: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보고서가 '추가 개선 여지'로 남긴 두 가지 — 설명가능성(SHAP)과 공정성 점검 — 그 숙제를 이어서 푼 것이 Part 2입니다.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— 진단: 원 코드는 왜 한계가 있었나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0.23% 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200,459명 중 연체자 462명 — 극단적 클래스 불균형. 원 코드의 모든 한계는 여기서 출발합니다.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93008" cy="2880360"/>
          </a:xfrm>
          <a:prstGeom prst="roundRect">
            <a:avLst>
              <a:gd name="adj" fmla="val 3810"/>
            </a:avLst>
          </a:prstGeom>
          <a:solidFill>
            <a:srgbClr val="FBEBE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99.5%를 폐기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언더샘플링 1회로 200,459건 → 924건만 학습. 음성 표본 정보 대부분 손실, 표본 추첨 운에 따라 성능 변동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2514600"/>
            <a:ext cx="3493008" cy="2880360"/>
          </a:xfrm>
          <a:prstGeom prst="roundRect">
            <a:avLst>
              <a:gd name="adj" fmla="val 3810"/>
            </a:avLst>
          </a:prstGeom>
          <a:solidFill>
            <a:srgbClr val="FBEBEB"/>
          </a:solidFill>
          <a:ln/>
        </p:spPr>
      </p:sp>
      <p:sp>
        <p:nvSpPr>
          <p:cNvPr id="11" name="Shape 9"/>
          <p:cNvSpPr/>
          <p:nvPr/>
        </p:nvSpPr>
        <p:spPr>
          <a:xfrm>
            <a:off x="4590288" y="2743200"/>
            <a:ext cx="384048" cy="384048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표본 안에서의 착시 평가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90288" y="40690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50:50 홀드아웃 185건에서 ACC 0.82 보고 — 현실 분포 40,092건에서 재평가하면 다른 그림. 7주차: 불균형에서 Accuracy는 무의미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2514600"/>
            <a:ext cx="3493008" cy="2880360"/>
          </a:xfrm>
          <a:prstGeom prst="roundRect">
            <a:avLst>
              <a:gd name="adj" fmla="val 3810"/>
            </a:avLst>
          </a:prstGeom>
          <a:solidFill>
            <a:srgbClr val="FBEB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1896" y="2743200"/>
            <a:ext cx="384048" cy="384048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11896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보정·임계값 설계 부재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11896" y="40690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표본 학습 확률은 실제 PD와 무관 (Brier 0.099). 임계값 0.5를 현실 분포에 쓰면 Precision 1.2%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전처리 골격(누수 변수 제거, log1p, 파이프라인화)은 타당 — 문제는 알고리즘이 아니라 불균형을 다루는 설계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— 5가지 개선과 결과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048256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4813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6384" y="26151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분포 홀드아웃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40,092건 + 5-fold OOF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98648" y="1325880"/>
            <a:ext cx="2048256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4813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44952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파생변수 16개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44952" y="26151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연체이력강도·가중평균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금리가 중요도 상위권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0328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57216" y="1325880"/>
            <a:ext cx="2048256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21808" y="14813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321808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EasyEnsemble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× HistGB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0" y="26151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언더샘플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 배깅으로 재활용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68896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15784" y="1325880"/>
            <a:ext cx="2048256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0376" y="14813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580376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62088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보정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62088" y="26151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출력을 실제 PD로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가능하게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27464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74352" y="1325880"/>
            <a:ext cx="2048256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38944" y="14813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838944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20656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0.0443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820656" y="26151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FN:FP = 10:1 기준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기대비용 최소화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동일한 현실 분포 홀드아웃(40,092건)에서 비교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8F0FB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40050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0.9111 →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0.9247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+0.0136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47288" y="39319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8F0FB"/>
          </a:solidFill>
          <a:ln/>
        </p:spPr>
      </p:sp>
      <p:sp>
        <p:nvSpPr>
          <p:cNvPr id="36" name="Text 34"/>
          <p:cNvSpPr/>
          <p:nvPr/>
        </p:nvSpPr>
        <p:spPr>
          <a:xfrm>
            <a:off x="3648456" y="40050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0.7056 →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0.7355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+0.0299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54496" y="39319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8F0FB"/>
          </a:solidFill>
          <a:ln/>
        </p:spPr>
      </p:sp>
      <p:sp>
        <p:nvSpPr>
          <p:cNvPr id="38" name="Text 36"/>
          <p:cNvSpPr/>
          <p:nvPr/>
        </p:nvSpPr>
        <p:spPr>
          <a:xfrm>
            <a:off x="6455664" y="40050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Brier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0.0990 →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0.0022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1/44 수준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61704" y="39319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8F0FB"/>
          </a:solidFill>
          <a:ln/>
        </p:spPr>
      </p:sp>
      <p:sp>
        <p:nvSpPr>
          <p:cNvPr id="40" name="Text 38"/>
          <p:cNvSpPr/>
          <p:nvPr/>
        </p:nvSpPr>
        <p:spPr>
          <a:xfrm>
            <a:off x="9262872" y="40050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기대비용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6,054 →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935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−84.6%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FBEBEB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321808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반례도 실험으로 확인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 + class_weight 트리(RF 0.758)와 SMOTE(0.813)는 오히려 악화 — "데이터를 전부 쓰면 좋다"가 아니라 불균형을 어떻게 다루느냐가 관건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성능은 만들었다 — 그런데, 설명할 수 있는가?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보고서 §5 — "추가 개선 여지"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외 검증(OOT) — 데이터에 시점 변수 부재로 미수행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스코어카드화 — PD 구간화·PSI 모니터링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설명가능성 — SHAP 기반 변수 기여도로 금융소비자 설명의무 대응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점검 — 특정 집단에 대한 불합리한 차별 여부 검증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두 줄이 Part 2의 출발점이 되었습니다.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BEBEB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6459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[Web발신] OO은행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고객님의 대출 신청이 거절되었습니다.
사유: 신용평점 미달
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34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…설명은 여기까지입니다.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36576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0.9247의 개선 모형도 이 질문에는 답하지 못합니다.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 트리 앙상블 = 블랙박스 — 성능이 오를수록 '왜'는 멀어집니다.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“개인은 자동화된 신용평가의 결과, 주요 기준, 기초정보에 대해 설명을 요구할 수 있다.”  — 신용정보법 제36조의2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법과 모형 사이의 간극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8F0F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6642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5910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법은 설명을 요구한다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10312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신용정보법 제36조의2 — 설명요구권·정보제출권·이의제기권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GDPR 제22조 — 전적 자동화 의사결정 제한, 인간 개입(HITL)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Act('26.8 시행) — 신용평가는 '고위험 AI'로 분류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기본법('26.1 시행) — 고영향 AI 안전성·신뢰성 확보 의무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FBEBEB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554480"/>
            <a:ext cx="475488" cy="475488"/>
          </a:xfrm>
          <a:prstGeom prst="ellipse">
            <a:avLst/>
          </a:prstGeom>
          <a:solidFill>
            <a:srgbClr val="E34948"/>
          </a:solidFill>
          <a:ln/>
        </p:spPr>
      </p:sp>
      <p:pic>
        <p:nvPicPr>
          <p:cNvPr id="10" name="Image 1" descr="/home/claude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67335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6328" y="15910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모형은 설명하지 못한다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21031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 앙상블(XGBoost 등)은 성능이 높지만 블랙박스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↔ 설명력 trade-off — 스코어카드 회귀는 성능을 포기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현실의 '설명'은 부정사유 코드 수준에 머무름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AI에 평가를 맡기면 환각·일관성·규제 리스크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566928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6692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규제가 요구하는 설명 수준과 모형이 제공 가능한 설명 수준의 간극 — 이 자리가 Credit Explainer의 기회입니다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— 역할을 나눈 4계층 아키텍처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'AI의 분류'의 응용: 판단형과 생성형에게 각자 잘하는 일만 맡긴다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848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판단형 AI — 평가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3649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EasyEnsemble 20×HGB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 산출 → 임계값 판정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(실습과제 모형 재사용)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55264" y="31089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84448" y="18288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3048" y="2084832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3813048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3048" y="2670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 — 근거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813048" y="33649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Local 요인 Top 5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Counterfactual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시뮬레이션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31089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28816" y="18288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7416" y="2084832"/>
            <a:ext cx="402336" cy="40233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6757416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57416" y="2670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— 번역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757416" y="33649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결과를 소비자 언어로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5요소 프롬프트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평가에는 비관여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0" y="31089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473184" y="18288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01784" y="2084832"/>
            <a:ext cx="402336" cy="402336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24" name="Text 22"/>
          <p:cNvSpPr/>
          <p:nvPr/>
        </p:nvSpPr>
        <p:spPr>
          <a:xfrm>
            <a:off x="9701784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01784" y="2670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 — 통제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701784" y="33649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사람 검토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감사 · 캐시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조항 매핑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원칙: 생성형 AI는 평가하지 않고 '번역'만 한다 — 환각·신용조작 우려(8주차)에 대한 구조적 방어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매핑:  ① 자동화평가 고지  ② 주요 기준 설명  ③ 설명요구권 이행  ④ GDPR 22조 HITL · 금융 AI 가이드라인 7원칙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①② — 평가하고, 근거를 꺼낸다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691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판단형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1의 개선 모형이 그대로 계층 ①이 됩니다 — 새 모형 개발 없음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EasyEnsemble 20×HGB + 파생변수 16개 + Platt 보정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 임계값 0.0443으로 승인/거절 판정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8F0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27248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0.9230
</a:t>
            </a:r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331720" y="30632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8F0F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3127248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0.7364
</a:t>
            </a:r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977640" y="30632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8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3127248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4.43%
</a:t>
            </a:r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임계값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324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 (SHAP)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개인별 판정 근거 Top 5 — '주요 기준'의 설명 재료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Counterfactual: “무엇을 바꾸면 결과가 달라지는가”의 최소 변화 탐색</a:t>
            </a:r>
            <a:endParaRPr lang="en-US" sz="1300" dirty="0"/>
          </a:p>
        </p:txBody>
      </p:sp>
      <p:pic>
        <p:nvPicPr>
          <p:cNvPr id="17" name="Image 0" descr="/home/claude/ppt_sha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71600"/>
            <a:ext cx="5577840" cy="39410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440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3(경계 거절)의 SHAP 판정 근거 — 표시값은 소비자용 단위 변환(연 22.9% 등)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③④ — 번역하고, 통제한다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10896" cy="31089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691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(Claude API)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5요소 프롬프트(특강): 역할·맥락·목표·형식·제약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제약: 입력에 없는 수치 생성 금지 · 확정적 약속 금지 · 조작 유도 금지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①결과 통지 ②주요 요인 ③개선 참고 ④권리 안내 — 법 조문 구조 그대로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564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25원
</a:t>
            </a:r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설명문 1건당 생성 비용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0" y="33832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34564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$0.054
</a:t>
            </a:r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3건 총 실비용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310896" cy="310896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2691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1280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검토: 수치 일치 · 금지 문구 · 이해 용이성 — 3건 전부 통과, 환각 0건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모드: 발표장 네트워크 없이도 재생 (API 호출 0회 검증)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감사: 그룹별 세분화 평가 상시 산출 (다음 슬라이드)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.env 분리 관리 — 코드·저장소 비노출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“참고로, 단기카드대출잔액을 25% 상환하시면 부실 위험 추정치가 4.49%에서 2.06%로 내려가 기준값 미만이 되어, 재평가 시 결과가 달라질 수 있습니다.”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실제 생성된 설명문(사례 3)의 개선 참고사항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846320" cy="502920"/>
          </a:xfrm>
          <a:prstGeom prst="roundRect">
            <a:avLst>
              <a:gd name="adj" fmla="val 49091"/>
            </a:avLst>
          </a:prstGeom>
          <a:solidFill>
            <a:srgbClr val="2A3A7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라이브 데모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credit-explainer-demo.vercel.app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순서 (약 2분)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사례 3(경계 거절) 선택 — PD 4.49% vs 임계값 4.43%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판정 근거 Top 5와 AI 설명문 확인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'시뮬레이션 적용' 클릭 → 2.06%, 승인 전환
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394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폴백: 로컬 index.html → 노트북 캐시 모드 (네트워크 불필요)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모든 수치는 사전 계산된 실제 결과의 재생입니다.</a:t>
            </a:r>
            <a:endParaRPr lang="en-US" sz="1100" dirty="0"/>
          </a:p>
        </p:txBody>
      </p:sp>
      <p:pic>
        <p:nvPicPr>
          <p:cNvPr id="7" name="Image 0" descr="/home/claude/ppt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640080"/>
            <a:ext cx="5486400" cy="430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512064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2A3A7A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5120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판단형 평가 → SHAP 근거 → AI 설명문 → 공정성 감사가 한 화면에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시연의 핵심 장면 — 거절이 개선 안내로 바뀌는 순간</a:t>
            </a:r>
            <a:endParaRPr lang="en-US" sz="2600" dirty="0"/>
          </a:p>
        </p:txBody>
      </p:sp>
      <p:pic>
        <p:nvPicPr>
          <p:cNvPr id="3" name="Image 0" descr="/home/claude/ppt_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023360" cy="45171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1417320"/>
            <a:ext cx="649224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57800" y="16002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</p:sp>
      <p:sp>
        <p:nvSpPr>
          <p:cNvPr id="6" name="Text 3"/>
          <p:cNvSpPr/>
          <p:nvPr/>
        </p:nvSpPr>
        <p:spPr>
          <a:xfrm>
            <a:off x="5257800" y="1600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통보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75120" y="14173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“신용평점 미달로 거절되었습니다.” — 여기서 끝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0" y="2697480"/>
            <a:ext cx="6492240" cy="2148840"/>
          </a:xfrm>
          <a:prstGeom prst="roundRect">
            <a:avLst>
              <a:gd name="adj" fmla="val 4255"/>
            </a:avLst>
          </a:prstGeom>
          <a:solidFill>
            <a:srgbClr val="E8F0FB"/>
          </a:solidFill>
          <a:ln/>
        </p:spPr>
      </p:sp>
      <p:sp>
        <p:nvSpPr>
          <p:cNvPr id="9" name="Shape 6"/>
          <p:cNvSpPr/>
          <p:nvPr/>
        </p:nvSpPr>
        <p:spPr>
          <a:xfrm>
            <a:off x="5257800" y="2880360"/>
            <a:ext cx="420624" cy="420624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10" name="Image 1" descr="/home/claude/icon_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985516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06440" y="28986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Credit Explainer의 설명문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49240" y="3401568"/>
            <a:ext cx="5897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“부실 위험 4.49%로 기준값 4.43%를 조금 넘었습니다. 단기카드대출잔액을 25% 상환하시면 2.06%로 내려가 재평가 시 결과가 달라질 수 있습니다. 설명요구·이의제기 권리가 있습니다.”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029200" y="4983480"/>
            <a:ext cx="64922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0" y="49834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통보가 신용 회복의 안내서가 됩니다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0" y="566928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E1F5EE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수치 일치 검증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242048" y="566928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E1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7242048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금지 문구 없음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454896" y="566928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E1F5EE"/>
          </a:solidFill>
          <a:ln/>
        </p:spPr>
      </p:sp>
      <p:sp>
        <p:nvSpPr>
          <p:cNvPr id="20" name="Text 16"/>
          <p:cNvSpPr/>
          <p:nvPr/>
        </p:nvSpPr>
        <p:spPr>
          <a:xfrm>
            <a:off x="9454896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환각 0건 (HITL)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감사 — 격차는 차별의 증거가 아니라 조사 신호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858000" y="1371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A = 3금융권 대출 보유(n=376) · 그룹 B = 미보유(n=39,716)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인구통계 변수 부재(법상 배제) → 취약계층 프록시 세분화 — Apple Card '세분화 평가' 교훈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858000" y="2286000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59168" y="228600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0.314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66760" y="23591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거절률 격차 (Demographic Parity 관점)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34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크다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0" y="3255264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59168" y="3255264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0.044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366760" y="33284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FNR 격차 (Equal Opportunity 관점)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작다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0" y="4224528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59168" y="4224528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29배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36676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연체율 격차 — 5.32% vs 0.18%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위험 자체가 다름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0" y="5257800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53035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공정성 정의를 쓰느냐에 따라 결론이 달라진다 (COMPAS, 8주차) — 격차는 후속 조사를 촉발하는 신호로 사용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알고, 통제한다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BEB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환각 가능성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94760" y="14173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17320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4173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제약(입력 외 수치 금지) + HITL 검토 — 이번 3건 환각 0건, 실서비스도 사람 검토 후 발송 전제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BEB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8775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변수의 SHAP 분산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94760" y="2587752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2587752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587752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값(연 22.9%)의 금리 변수 2개가 상반 방향으로 기여 — 트리 앙상블의 알려진 특성. 상관 변수 그룹 단위 SHAP 집계로 개선 예정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5818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데모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758184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3758184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758184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사전 계산 결과의 재생(화면에 명시). 실시간 서비스화는 모형 서빙·키 관리 등 별도 MLOps 과제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BEBE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286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잔액 변수 단위 미상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794760" y="4928616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97680" y="4928616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928616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정의서 부재로 무단위 인용 — 실서비스 전 단위 확정 필요. 금리는 분포 검증으로 단위 확정(%×1000)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도입의 이유는 성능만이 아니라, 신뢰입니다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68680" y="30175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 성능 — 평가 프로토콜을 바로잡아야 진짜 개선이 보인다 (Part 1 · 실습과제)
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 신뢰 — 판단형은 평가, XAI는 근거, 생성형은 번역, 사람은 최종 판단 (Part 2 · 발표과제)
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 기회 — 실습이 남긴 숙제(설명·공정성)를 풀면, 규제 대응이 곧 서비스가 된다 (9주차)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57607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·  데모: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라이브 데모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credit-explainer-demo.vercel.app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GitHub: gwpark-dev/credit-explainer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— 신용사면 시뮬레이션: 기록을 지워도 모형은 우회 학습한다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417320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59168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80" y="1677924"/>
            <a:ext cx="192024" cy="1920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1232" y="15819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086600" y="19842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현재연체자 2,729명(향후 연체율 3.08%, 정상군의 16배)의 연체기록 4개 변수를 삭제 후 재학습·재평가 — 9주차 토의의 실증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858000" y="2953512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59168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_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3214116"/>
            <a:ext cx="192024" cy="192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71232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086600" y="35204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사면에도 AUC 저하 0.0007 — 사실상 없음. 미래 불량자의 위험순위 백분위 98.3% → 97.1%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858000" y="4489704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E8F0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59168" y="46542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_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4750308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71232" y="46542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086600" y="50566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대리변수의 실증(8주차): 상관 높은 변수(대출 구성·금리·2/3금융권)로 우회 학습. 변수 삭제만으로는 모형의 행동을 바꿀 수 없다 → 사후 설명(XAI)과 그룹별 감사가 필요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40080" y="5715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Y축은 0.85~1.00 구간 확대 — 차이가 '없음'을 보이기 위한 축소 구간임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— 예상 질문과 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72800" cy="1389888"/>
          </a:xfrm>
          <a:prstGeom prst="roundRect">
            <a:avLst>
              <a:gd name="adj" fmla="val 6579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270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 같은 22.9% 금리 변수 2개가 왜 반대 방향인가?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4767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 상관 높은 변수들 사이에서 SHAP 기여도가 분산되는 트리 앙상블의 알려진 특성. 한계로 공개했고, 상관 변수 그룹 단위 집계(그룹 SHAP)가 개선 방향.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990088"/>
            <a:ext cx="10972800" cy="1389888"/>
          </a:xfrm>
          <a:prstGeom prst="roundRect">
            <a:avLst>
              <a:gd name="adj" fmla="val 6579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9981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 NICE·KCB도 이미 SHAP을 쓰는데 차별점은?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 현행은 내부 검증·부정사유 코드 생성용. 본 제안은 소비자향 자연어 설명 + 개선 시뮬레이션 + 공정성 감사를 하나의 신뢰 계층으로 통합하고, 법 조문 구조(결과·기준·개선·권리)로 출력.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62856"/>
            <a:ext cx="10972800" cy="1389888"/>
          </a:xfrm>
          <a:prstGeom prst="roundRect">
            <a:avLst>
              <a:gd name="adj" fmla="val 6579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7258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 생성형 AI가 잘못 설명하면 책임은?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09320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 생성형 AI는 평가에 비관여(번역만). 템플릿 제약 + HITL 검토 후 발송이 전제 — GDPR 22조의 인간 개입 요건과 일치. 책임 주체는 검토·승인한 금융회사.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2026-07-28T12:00:28Z</dcterms:created>
  <dcterms:modified xsi:type="dcterms:W3CDTF">2026-07-28T12:00:28Z</dcterms:modified>
</cp:coreProperties>
</file>