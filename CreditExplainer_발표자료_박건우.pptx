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3960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과목명·과제명 소개 후, 실습과제와 발표과제를 하나의 여정으로 묶었다는 것만 언급하고 넘어감.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Part 1은 성능 개선으로 완결, Part 2는 별도의 문제(설명력)를 다룸 — 연결은 '같은 데이터와 모형을 재사용한다' 수준으로만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'알고리즘 문제가 아니라 설계 문제'가 핵심 프레임. 착시 평가(문제 2)를 가장 강조 — 개선의 전제가 평가 프로토콜 교정이었음을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 10초. 개선 5개를 파이프라인 순서로 빠르게, 타일은 '동일한 현실 홀드아웃 비교'임을 강조. 반례(class_weight·SMOTE 악화)는 실험적 엄밀성 어필 포인트.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Part 2의 독립적 문제 제기 — 소비자가 받는 설명의 현실(거절 문자) vs 블랙박스 trade-off vs 법의 요구. Part 1과의 연결은 '데이터와 모형 재사용' 한 줄로만 가볍게.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앞 장의 두 문제가 '있으면 좋은 것'이 아니라 법적 의무임을 보여주는 슬라이드 — 왼쪽 규제 목록, 오른쪽은 모형의 현실. '규제가 수요를 법으로 만들어 준다'로 마무리.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1.5분. 각 계층을 화살표 순서로. '역할 분리 자체가 리스크 방어'라는 문장이 이 슬라이드의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수치는 저장소 노트북 실행값 기준(AUC 0.9230)임을 언급 — 실습 제출본은 0.9247로 환경 차이. SHAP 차트에서 금리 단위 변환(%×1000 스케일, 법정 최고금리 24% 근거) 짧게.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'부정사유 코드'와의 차이를 하단 인용문으로 보여줌 — 수치 근거 + 개선 방향 + 비확정 표현. 비용 스탯으로 경제성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2분. 여기서 실제 브라우저로 전환. 네트워크 문제 시 로컬 파일. 시연 후 이 슬라이드로 복귀하지 말고 바로 다음 슬라이드로.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시연 직후 요점 정리 — '거절 통보가 신용 회복 안내서가 된다'가 서비스 가치의 한 줄 요약.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3줄 요약 후 질문 받기. 부록 2장(사면 실험, Q&amp;A 카드) 대기.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redit-explainer-demo.vercel.app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연세대학교 </a:t>
            </a:r>
            <a:r>
              <a:rPr lang="en-US" sz="1500" dirty="0" err="1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정보대학원</a:t>
            </a: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500" dirty="0" err="1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인공지능과신용평가모델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인공지능과 신용평가모델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Play DB 성능개선에서 Credit Explainer까지 — 성능을 넘어 신뢰로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2025523504 박건우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여정 — 성능을 만들고, 신뢰를 만들다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96012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 ·  실습과제 (약 3분)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모형의 '성능'을 만들다
</a:t>
            </a:r>
            <a:endParaRPr lang="en-US" sz="2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
AI Play DB 신용평가모델 성능개선
</a:t>
            </a:r>
            <a:endParaRPr lang="en-US" sz="2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극단적 불균형(0.23%) 진단 → 5가지 개선</a:t>
            </a:r>
            <a:endParaRPr lang="en-US" sz="2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AUC 0.9111 → 0.9247, 기대비용 −84.6%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8064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0" y="164592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72084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 ·  발표과제 (약 7분)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20840" y="237744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모형의 '신뢰'를 만들다
</a:t>
            </a:r>
            <a:endParaRPr lang="en-US" sz="2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
Credit Explainer — 설명요구권 대응 서비스
</a:t>
            </a:r>
            <a:endParaRPr lang="en-US" sz="2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1의 모형 + XAI + 생성형 AI + 거버넌스</a:t>
            </a:r>
            <a:endParaRPr lang="en-US" sz="2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라이브 데모 (Vercel 배포)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10927080" cy="822960"/>
          </a:xfrm>
          <a:prstGeom prst="roundRect">
            <a:avLst>
              <a:gd name="adj" fmla="val 1111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14400" y="50292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파트의 연결:  </a:t>
            </a:r>
            <a:r>
              <a:rPr lang="en-US" sz="1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2는 Part 1에서 만든 데이터와 개선 모형을 그대로 가져와, 그 위에 설명을 위한 '신뢰 계층'을 </a:t>
            </a:r>
            <a:r>
              <a:rPr lang="en-US" sz="14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</a:t>
            </a:r>
            <a:r>
              <a:rPr lang="en-US" sz="1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</a:t>
            </a:r>
            <a:r>
              <a:rPr lang="ko-KR" altLang="en-US" sz="1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— 진단: 원 코드는 왜 한계가 있었나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960120" y="13258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0.23%   </a:t>
            </a: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200,459명 중 연체자 462명 — 극단적 클래스 불균형. 원 코드의 모든 한계는 여기서 출발합니다.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93008" cy="2880360"/>
          </a:xfrm>
          <a:prstGeom prst="roundRect">
            <a:avLst>
              <a:gd name="adj" fmla="val 3810"/>
            </a:avLst>
          </a:prstGeom>
          <a:solidFill>
            <a:srgbClr val="FBEB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68680" y="2743200"/>
            <a:ext cx="384048" cy="384048"/>
          </a:xfrm>
          <a:prstGeom prst="ellipse">
            <a:avLst/>
          </a:prstGeom>
          <a:solidFill>
            <a:srgbClr val="E349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291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데이터의 99.5%를 폐기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언더샘플링 1회로 200,459건 → 924건만 학습. 음성 표본 정보 대부분 손실, 표본 추첨 운에 따라 성능 변동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61688" y="2514600"/>
            <a:ext cx="3493008" cy="2880360"/>
          </a:xfrm>
          <a:prstGeom prst="roundRect">
            <a:avLst>
              <a:gd name="adj" fmla="val 3810"/>
            </a:avLst>
          </a:prstGeom>
          <a:solidFill>
            <a:srgbClr val="FBEB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590288" y="2743200"/>
            <a:ext cx="384048" cy="384048"/>
          </a:xfrm>
          <a:prstGeom prst="ellipse">
            <a:avLst/>
          </a:prstGeom>
          <a:solidFill>
            <a:srgbClr val="E349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90288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291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 표본 안에서의 착시 평가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0288" y="40690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50:50 홀드아웃 185건에서 ACC 0.82 보고 — 현실 분포 40,092건에서 재평가하면 </a:t>
            </a:r>
            <a:r>
              <a:rPr lang="en-US" sz="115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83296" y="2514600"/>
            <a:ext cx="3493008" cy="2880360"/>
          </a:xfrm>
          <a:prstGeom prst="roundRect">
            <a:avLst>
              <a:gd name="adj" fmla="val 3810"/>
            </a:avLst>
          </a:prstGeom>
          <a:solidFill>
            <a:srgbClr val="FBEB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311896" y="2743200"/>
            <a:ext cx="384048" cy="384048"/>
          </a:xfrm>
          <a:prstGeom prst="ellipse">
            <a:avLst/>
          </a:prstGeom>
          <a:solidFill>
            <a:srgbClr val="E349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3118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11896" y="32918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보정·임계값 설계 부재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11896" y="40690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 표본 학습 확률은 실제 </a:t>
            </a:r>
            <a:r>
              <a:rPr lang="en-US" sz="115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PD와</a:t>
            </a: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</a:t>
            </a: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0.5를 현실 분포에 쓰면 Precision 1.2%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— 5가지 개선과 결과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04672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04672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프로토콜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86384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 분포 홀드아웃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40,092건 + 5-fold OOF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98648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063240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063240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44952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16개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연체이력강도·가중평균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금리가 중요도 상위권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0328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57216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321808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321808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EasyEnsemble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× HistGB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03520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언더샘플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20개 배깅으로 재활용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68896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15784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7580376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580376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62088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Platt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보정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562088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실제 PD로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가능하게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27464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74352" y="1325880"/>
            <a:ext cx="2048256" cy="1965960"/>
          </a:xfrm>
          <a:prstGeom prst="roundRect">
            <a:avLst>
              <a:gd name="adj" fmla="val 4651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9838944" y="148132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838944" y="1472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20656" y="1920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0.0443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820656" y="261518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FN:FP = 10:1 기준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기대비용 최소화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— 동일한 현실 분포 홀드아웃(40,092건)에서 비교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841248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
</a:t>
            </a: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0.9111 → </a:t>
            </a: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0.9247</a:t>
            </a: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+0.0136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447288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3648456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
</a:t>
            </a: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0.7056 → </a:t>
            </a: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0.7355</a:t>
            </a: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+0.0299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54496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455664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Brier
</a:t>
            </a: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0.0990 → </a:t>
            </a: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0.0022</a:t>
            </a: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1/44 수준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061704" y="393192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9262872" y="40050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기대비용
</a:t>
            </a: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6,054 → </a:t>
            </a: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935</a:t>
            </a:r>
            <a:r>
              <a:rPr lang="en-US" sz="105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−84.6%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" y="5257800"/>
            <a:ext cx="10927080" cy="960120"/>
          </a:xfrm>
          <a:prstGeom prst="roundRect">
            <a:avLst>
              <a:gd name="adj" fmla="val 9524"/>
            </a:avLst>
          </a:prstGeom>
          <a:solidFill>
            <a:srgbClr val="FBEB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914400" y="5321808"/>
            <a:ext cx="10378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반례도 실험으로 확인   </a:t>
            </a: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데이터 + class_weight 트리(RF 0.758)와 SMOTE(0.813)는 오히려 악화 — "데이터를 전부 쓰면 좋다"가 아니라 불균형을 어떻게 다루느냐가 관건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— 문제 제기: 성능 좋은 AI는 왜 설명하지 못하는가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05840" y="19202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[Web발신] OO은행
</a:t>
            </a: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고객님의 대출 신청이 거절되었습니다.
사유: 신용평점 미달
</a:t>
            </a:r>
            <a:r>
              <a:rPr lang="en-US" sz="1600" i="1" dirty="0">
                <a:solidFill>
                  <a:srgbClr val="E349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…설명은 여기까지입니다.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0" y="1600200"/>
            <a:ext cx="475488" cy="475488"/>
          </a:xfrm>
          <a:prstGeom prst="ellipse">
            <a:avLst/>
          </a:prstGeom>
          <a:solidFill>
            <a:srgbClr val="E3494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/home/claude/icon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1907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13448" y="16367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설명력 부족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0" y="228600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좋은 AI 모형(트리 앙상블)은 블랙박스 — 성능이 오를수록 '왜'는 멀어지는 trade-off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소비자가 받는 설명은 '부정사유 코드' 수준에 머무름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법은 설명을 요구함 — "자동화 평가의 결과·주요 기준·기초정보에 대해 설명을 요구할 수 있다" </a:t>
            </a:r>
            <a:b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(신용정보법 제36조의2)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5120640"/>
            <a:ext cx="10927080" cy="82296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914400" y="51206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1에서 가져온 것은 데이터(AI Play DB)와 개선 모형뿐 — </a:t>
            </a: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문제를 푸는 '설명 계층'을 그 위에 </a:t>
            </a:r>
            <a:r>
              <a:rPr lang="en-US" sz="13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</a:t>
            </a: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설계했습니다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— 법과 모형 사이의 간극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60120" y="1554480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/home/claude/icon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664208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72768" y="15910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법은 설명을 요구한다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210312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신용정보법 제36조의2 — 설명요구권·정보제출권·이의제기권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GDPR 제22조 — 전적 자동화 의사결정 제한, 인간 개입(HITL)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Act('26.8 시행) — 신용평가는 '고위험 AI'로 분류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기본법('26.1 시행) — 고영향 AI 안전성·신뢰성 확보 의무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349240" cy="3977640"/>
          </a:xfrm>
          <a:prstGeom prst="roundRect">
            <a:avLst>
              <a:gd name="adj" fmla="val 2759"/>
            </a:avLst>
          </a:prstGeom>
          <a:solidFill>
            <a:srgbClr val="FBEB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6583680" y="1554480"/>
            <a:ext cx="475488" cy="475488"/>
          </a:xfrm>
          <a:prstGeom prst="ellipse">
            <a:avLst/>
          </a:prstGeom>
          <a:solidFill>
            <a:srgbClr val="E3494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/home/claude/icon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167335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96328" y="15910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E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모형은 설명하지 못한다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10312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앙상블(XGBoost 등)은 성능이 높지만 블랙박스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↔ 설명력 trade-off — 스코어카드 회귀는 성능을 포기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현실의 '설명'은 부정사유 코드 수준에 머무름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AI에 평가를 맡기면 환각·일관성·규제 리스크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669280"/>
            <a:ext cx="10972800" cy="68580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914400" y="56692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규제가 요구하는 설명 수준과 모형이 제공 가능한 설명 수준의 간극 — 이 자리가 Credit Explainer의 기회입니다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 — 역할을 나눈 4계층 아키텍처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2주차 'AI의 분류'의 응용: 판단형과 생성형에게 각자 잘하는 일만 맡긴다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68680" y="20848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6868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판단형 AI — 평가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EasyEnsemble 20×HGB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 산출 → 임계값 판정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(실습과제 모형 재사용)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55264" y="31089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84448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813048" y="208483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13048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13048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XAI — 근거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813048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 Local 요인 Top 5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Counterfactual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시뮬레이션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99632" y="31089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28816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757416" y="2084832"/>
            <a:ext cx="402336" cy="402336"/>
          </a:xfrm>
          <a:prstGeom prst="ellipse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757416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57416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— 번역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757416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 결과를 소비자 언어로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5요소 프롬프트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평가에는 비관여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0" y="31089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473184" y="1828800"/>
            <a:ext cx="2670048" cy="3108960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701784" y="2084832"/>
            <a:ext cx="402336" cy="402336"/>
          </a:xfrm>
          <a:prstGeom prst="ellipse">
            <a:avLst/>
          </a:prstGeom>
          <a:solidFill>
            <a:srgbClr val="854F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701784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701784" y="26700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54F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 — 통제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701784" y="3364992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HITL 사람 검토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발표장 캐시 재생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조항 매핑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5257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생성형 AI는 평가하지 않고 '번역'만 한다 — 환각·신용조작 우려(8주차)에 대한 구조적 방어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매핑:  ① 자동화평가 고지  ② 주요 기준 설명  ③ 설명요구권 이행  ④ GDPR 22조 HITL · 금융 AI 가이드라인 7원칙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①② — 평가하고, 근거를 꺼낸다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12691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판단형 AI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1의 개선 모형이 그대로 계층 ①이 됩니다 — 새 모형 개발 없음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EasyEnsemble 20×HGB + 파생변수 16개 + Platt 보정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 임계값 0.0443으로 승인/거절 판정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6324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3127248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0.9230
</a:t>
            </a: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331720" y="306324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331720" y="3127248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0.7364
</a:t>
            </a: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977640" y="306324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977640" y="3127248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4.43%
</a:t>
            </a: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 임계값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43324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XAI (SHAP)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4754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개인별 판정 근거 Top 5 — '주요 기준'의 설명 재료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Counterfactual: “무엇을 바꾸면 결과가 달라지는가”의 최소 변화 탐색</a:t>
            </a:r>
            <a:endParaRPr lang="en-US" sz="1300" dirty="0"/>
          </a:p>
        </p:txBody>
      </p:sp>
      <p:pic>
        <p:nvPicPr>
          <p:cNvPr id="17" name="Image 0" descr="/home/claude/ppt_sha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371600"/>
            <a:ext cx="5577840" cy="394106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989320" y="54406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3(경계 거절)의 SHAP 판정 근거 — 표시값은 소비자용 단위 변환(연 22.9% 등)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③④ — 번역하고, 통제한다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10896" cy="310896"/>
          </a:xfrm>
          <a:prstGeom prst="ellipse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12691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(Claude API)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5요소 프롬프트(특강): 역할·맥락·목표·형식·제약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제약: 입력에 없는 수치 생성 금지 · 확정적 약속 금지 · 조작 유도 금지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①결과 통지 ②주요 요인 ③개선 참고 ④권리 안내 — 법 조문 구조 그대로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3832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34564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25원
</a:t>
            </a: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설명문 1건당 생성 비용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00400" y="33832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200400" y="34564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$0.054
</a:t>
            </a: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3건 총 실비용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0" y="1280160"/>
            <a:ext cx="310896" cy="310896"/>
          </a:xfrm>
          <a:prstGeom prst="ellipse">
            <a:avLst/>
          </a:prstGeom>
          <a:solidFill>
            <a:srgbClr val="854F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0" y="12691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54F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16916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HITL 검토: 수치 일치 · 금지 문구 · 이해 용이성 — 3건 전부 통과, 환각 0건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 모드: 발표장 네트워크 없이도 재생 (API 호출 0회 검증)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키는 .env 분리 관리 — 코드·저장소 비노출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48920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60120" y="50292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“참고로, 단기카드대출잔액을 25% 상환하시면 부실 위험 추정치가 4.49%에서 2.06%로 내려가 기준값 미만이 되어, 재평가 시 결과가 달라질 수 있습니다.”  </a:t>
            </a:r>
            <a:r>
              <a:rPr lang="en-US" sz="11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실제 생성된 설명문(사례 3)의 개선 참고사항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4846320" cy="502920"/>
          </a:xfrm>
          <a:prstGeom prst="roundRect">
            <a:avLst>
              <a:gd name="adj" fmla="val 49091"/>
            </a:avLst>
          </a:prstGeom>
          <a:solidFill>
            <a:srgbClr val="2A3A7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tooltip="라이브 데모 열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credit-explainer-demo.vercel.app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순서 (약 2분)
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사례 3(경계 거절) 선택 — PD 4.49% vs 임계값 4.43%
2.  판정 근거 Top 5와 AI 설명문 확인
3.  '시뮬레이션 적용' 클릭 → 2.06%, 승인 전환
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5394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폴백: 로컬 index.html → 노트북 캐시 모드 (네트워크 불필요)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모든 수치는 사전 계산된 실제 결과의 재생입니다.</a:t>
            </a:r>
            <a:endParaRPr lang="en-US" sz="1100" dirty="0"/>
          </a:p>
        </p:txBody>
      </p:sp>
      <p:pic>
        <p:nvPicPr>
          <p:cNvPr id="7" name="Image 0" descr="/home/claude/ppt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640080"/>
            <a:ext cx="5486400" cy="430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26480" y="5120640"/>
            <a:ext cx="5486400" cy="548640"/>
          </a:xfrm>
          <a:prstGeom prst="roundRect">
            <a:avLst>
              <a:gd name="adj" fmla="val 13333"/>
            </a:avLst>
          </a:prstGeom>
          <a:solidFill>
            <a:srgbClr val="2A3A7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355080" y="5120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판단형 평가 → SHAP 근거 → AI 설명문이 한 화면에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시연의 핵심 장면 — 거절이 개선 안내로 바뀌는 순간</a:t>
            </a:r>
            <a:endParaRPr lang="en-US" sz="2600" dirty="0"/>
          </a:p>
        </p:txBody>
      </p:sp>
      <p:pic>
        <p:nvPicPr>
          <p:cNvPr id="3" name="Image 0" descr="/home/claude/ppt_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4023360" cy="451713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0" y="1417320"/>
            <a:ext cx="649224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5257800" y="160020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257800" y="16002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통보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675120" y="141732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“신용평점 미달로 거절되었습니다.” — 여기서 끝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0" y="2697480"/>
            <a:ext cx="6492240" cy="2148840"/>
          </a:xfrm>
          <a:prstGeom prst="roundRect">
            <a:avLst>
              <a:gd name="adj" fmla="val 4255"/>
            </a:avLst>
          </a:prstGeom>
          <a:solidFill>
            <a:srgbClr val="E8F0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5257800" y="2880360"/>
            <a:ext cx="420624" cy="420624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/home/claude/icon_com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956" y="2985516"/>
            <a:ext cx="210312" cy="2103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06440" y="28986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Credit Explainer의 설명문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349240" y="3401568"/>
            <a:ext cx="5897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“부실 위험 4.49%로 기준값 4.43%를 조금 넘었습니다. 단기카드대출잔액을 25% 상환하시면 2.06%로 내려가 재평가 시 결과가 달라질 수 있습니다. 설명요구·이의제기 권리가 있습니다.”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029200" y="4983480"/>
            <a:ext cx="6492240" cy="502920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5029200" y="498348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 통보가 신용 회복의 안내서가 됩니다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029200" y="566928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5029200" y="5669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수치 일치 검증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242048" y="566928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7242048" y="5669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금지 문구 없음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454896" y="566928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9454896" y="5669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850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환각 0건 (HITL)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도입의 이유는 성능만이 아니라, 신뢰입니다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868680" y="30175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 성능 — 평가 프로토콜을 바로잡아야 진짜 개선이 보인다 (Part 1 · 실습과제)
</a:t>
            </a:r>
            <a:endParaRPr lang="en-US" sz="17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 신뢰 — 판단형은 평가, XAI는 근거, 생성형은 번역, 사람은 최종 판단 (Part 2 · 발표과제)
</a:t>
            </a:r>
            <a:endParaRPr lang="en-US" sz="17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 기회 — 설명요구권 대응이 곧 서비스, 규제는 비용이 </a:t>
            </a:r>
            <a:r>
              <a:rPr lang="en-US" sz="1700" dirty="0" err="1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기회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1633</Words>
  <Application>Microsoft Office PowerPoint</Application>
  <PresentationFormat>와이드스크린</PresentationFormat>
  <Paragraphs>182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박건우</cp:lastModifiedBy>
  <cp:revision>16</cp:revision>
  <dcterms:created xsi:type="dcterms:W3CDTF">2026-07-30T13:39:35Z</dcterms:created>
  <dcterms:modified xsi:type="dcterms:W3CDTF">2026-07-30T13:50:23Z</dcterms:modified>
</cp:coreProperties>
</file>